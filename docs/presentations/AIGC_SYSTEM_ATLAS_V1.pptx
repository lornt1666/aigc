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01159fb15c4f02" /><Relationship Type="http://schemas.openxmlformats.org/officeDocument/2006/relationships/extended-properties" Target="/docProps/app.xml" Id="Rfe7d509b198c4161" /><Relationship Type="http://schemas.openxmlformats.org/officeDocument/2006/relationships/officeDocument" Target="/ppt/presentation.xml" Id="R61a36d4605aa4c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c9907c8ec042db"/>
  </p:sldMasterIdLst>
  <p:notesMasterIdLst>
    <p:notesMasterId xmlns:r="http://schemas.openxmlformats.org/officeDocument/2006/relationships" r:id="Rda12099166e84da3"/>
  </p:notesMasterIdLst>
  <p:sldIdLst>
    <p:sldId xmlns:r="http://schemas.openxmlformats.org/officeDocument/2006/relationships" id="256" r:id="R31296af0b8d841aa"/>
    <p:sldId xmlns:r="http://schemas.openxmlformats.org/officeDocument/2006/relationships" id="257" r:id="Rcc31dc80af634abb"/>
    <p:sldId xmlns:r="http://schemas.openxmlformats.org/officeDocument/2006/relationships" id="258" r:id="Rc79494e774574b8e"/>
    <p:sldId xmlns:r="http://schemas.openxmlformats.org/officeDocument/2006/relationships" id="259" r:id="R5d2f80a16a8542ef"/>
    <p:sldId xmlns:r="http://schemas.openxmlformats.org/officeDocument/2006/relationships" id="260" r:id="R6c31cabdf34f4e93"/>
    <p:sldId xmlns:r="http://schemas.openxmlformats.org/officeDocument/2006/relationships" id="261" r:id="Rb0cc127ca8054658"/>
    <p:sldId xmlns:r="http://schemas.openxmlformats.org/officeDocument/2006/relationships" id="262" r:id="R1c434aa5a9b849b8"/>
    <p:sldId xmlns:r="http://schemas.openxmlformats.org/officeDocument/2006/relationships" id="263" r:id="R29a01e1a963d4166"/>
    <p:sldId xmlns:r="http://schemas.openxmlformats.org/officeDocument/2006/relationships" id="264" r:id="R8f3007977d9b4b5b"/>
    <p:sldId xmlns:r="http://schemas.openxmlformats.org/officeDocument/2006/relationships" id="265" r:id="Raf616dc7caca4265"/>
    <p:sldId xmlns:r="http://schemas.openxmlformats.org/officeDocument/2006/relationships" id="266" r:id="Rc39572b07eb1419a"/>
    <p:sldId xmlns:r="http://schemas.openxmlformats.org/officeDocument/2006/relationships" id="267" r:id="Ra395a4620246459f"/>
    <p:sldId xmlns:r="http://schemas.openxmlformats.org/officeDocument/2006/relationships" id="268" r:id="Re16ec9f9284e4f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3da633a38b4c64" /><Relationship Type="http://schemas.openxmlformats.org/officeDocument/2006/relationships/slideMaster" Target="/ppt/slideMasters/slideMaster1.xml" Id="R2ec9907c8ec042db" /><Relationship Type="http://schemas.openxmlformats.org/officeDocument/2006/relationships/notesMaster" Target="/ppt/notesMasters/notesMaster1.xml" Id="Rda12099166e84da3" /><Relationship Type="http://schemas.openxmlformats.org/officeDocument/2006/relationships/presProps" Target="/ppt/presProps.xml" Id="Re4c541ca680b490c" /><Relationship Type="http://schemas.openxmlformats.org/officeDocument/2006/relationships/tableStyles" Target="/ppt/tableStyles.xml" Id="R3677b5380bac4a0b" /><Relationship Type="http://schemas.openxmlformats.org/officeDocument/2006/relationships/slide" Target="/ppt/slides/slide1.xml" Id="R31296af0b8d841aa" /><Relationship Type="http://schemas.openxmlformats.org/officeDocument/2006/relationships/slide" Target="/ppt/slides/slide2.xml" Id="Rcc31dc80af634abb" /><Relationship Type="http://schemas.openxmlformats.org/officeDocument/2006/relationships/slide" Target="/ppt/slides/slide3.xml" Id="Rc79494e774574b8e" /><Relationship Type="http://schemas.openxmlformats.org/officeDocument/2006/relationships/slide" Target="/ppt/slides/slide4.xml" Id="R5d2f80a16a8542ef" /><Relationship Type="http://schemas.openxmlformats.org/officeDocument/2006/relationships/slide" Target="/ppt/slides/slide5.xml" Id="R6c31cabdf34f4e93" /><Relationship Type="http://schemas.openxmlformats.org/officeDocument/2006/relationships/slide" Target="/ppt/slides/slide6.xml" Id="Rb0cc127ca8054658" /><Relationship Type="http://schemas.openxmlformats.org/officeDocument/2006/relationships/slide" Target="/ppt/slides/slide7.xml" Id="R1c434aa5a9b849b8" /><Relationship Type="http://schemas.openxmlformats.org/officeDocument/2006/relationships/slide" Target="/ppt/slides/slide8.xml" Id="R29a01e1a963d4166" /><Relationship Type="http://schemas.openxmlformats.org/officeDocument/2006/relationships/slide" Target="/ppt/slides/slide9.xml" Id="R8f3007977d9b4b5b" /><Relationship Type="http://schemas.openxmlformats.org/officeDocument/2006/relationships/slide" Target="/ppt/slides/slide10.xml" Id="Raf616dc7caca4265" /><Relationship Type="http://schemas.openxmlformats.org/officeDocument/2006/relationships/slide" Target="/ppt/slides/slide11.xml" Id="Rc39572b07eb1419a" /><Relationship Type="http://schemas.openxmlformats.org/officeDocument/2006/relationships/slide" Target="/ppt/slides/slide12.xml" Id="Ra395a4620246459f" /><Relationship Type="http://schemas.openxmlformats.org/officeDocument/2006/relationships/slide" Target="/ppt/slides/slide13.xml" Id="Re16ec9f9284e4f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b80ace874147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479bc855e34980" /><Relationship Type="http://schemas.openxmlformats.org/officeDocument/2006/relationships/notesMaster" Target="/ppt/notesMasters/notesMaster1.xml" Id="Rcb331cda885a43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af86ced38045c1" /><Relationship Type="http://schemas.openxmlformats.org/officeDocument/2006/relationships/notesMaster" Target="/ppt/notesMasters/notesMaster1.xml" Id="Rc6a424caeb1042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2af21caedc4542" /><Relationship Type="http://schemas.openxmlformats.org/officeDocument/2006/relationships/notesMaster" Target="/ppt/notesMasters/notesMaster1.xml" Id="R5df079cc7ac246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0ce109ae8f4bee" /><Relationship Type="http://schemas.openxmlformats.org/officeDocument/2006/relationships/notesMaster" Target="/ppt/notesMasters/notesMaster1.xml" Id="Rbca1e1b5d3364b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a76764fe024dab" /><Relationship Type="http://schemas.openxmlformats.org/officeDocument/2006/relationships/notesMaster" Target="/ppt/notesMasters/notesMaster1.xml" Id="R0a78b07aeb7a4a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a4deceff60451a" /><Relationship Type="http://schemas.openxmlformats.org/officeDocument/2006/relationships/notesMaster" Target="/ppt/notesMasters/notesMaster1.xml" Id="R644a1cfa51664a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62175e99a847e1" /><Relationship Type="http://schemas.openxmlformats.org/officeDocument/2006/relationships/notesMaster" Target="/ppt/notesMasters/notesMaster1.xml" Id="Rb6ca286d417042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ce1cd4c4f6408b" /><Relationship Type="http://schemas.openxmlformats.org/officeDocument/2006/relationships/notesMaster" Target="/ppt/notesMasters/notesMaster1.xml" Id="Rb027346d3e5e45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7897bef8dd4902" /><Relationship Type="http://schemas.openxmlformats.org/officeDocument/2006/relationships/notesMaster" Target="/ppt/notesMasters/notesMaster1.xml" Id="R94b71fb0ade142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600e30919c4742" /><Relationship Type="http://schemas.openxmlformats.org/officeDocument/2006/relationships/notesMaster" Target="/ppt/notesMasters/notesMaster1.xml" Id="R9b33233fdf6f48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64874ba35744f7" /><Relationship Type="http://schemas.openxmlformats.org/officeDocument/2006/relationships/notesMaster" Target="/ppt/notesMasters/notesMaster1.xml" Id="Rd0214eb9adf547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312424c1454309" /><Relationship Type="http://schemas.openxmlformats.org/officeDocument/2006/relationships/notesMaster" Target="/ppt/notesMasters/notesMaster1.xml" Id="R3c0fed32c53e46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e1c97700984bbb" /><Relationship Type="http://schemas.openxmlformats.org/officeDocument/2006/relationships/notesMaster" Target="/ppt/notesMasters/notesMaster1.xml" Id="R81efce93ce2143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frame: explain the product without converting ambition into a production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config/aigc_omniproj_apex_v2.json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docs/architecture/AIGC_INTEGRATION_CONTRACT_V1.md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reports/artifacts/aigc_system_atlas_local_snapshot.json</a:t>
            </a:r>
          </a:p>
          <a:p xmlns:a="http://schemas.openxmlformats.org/drawingml/2006/main">
            <a:r>
              <a:t>- src/integrations/mcp/server.py</a:t>
            </a:r>
          </a:p>
          <a:p xmlns:a="http://schemas.openxmlformats.org/drawingml/2006/main">
            <a:r>
              <a:t>- config/occupation_packs/</a:t>
            </a:r>
          </a:p>
          <a:p xmlns:a="http://schemas.openxmlformats.org/drawingml/2006/main">
            <a:r>
              <a:t>- config/aigc_wealth_operator_policy.v1.json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docs/architecture/AIGC_CORE_SUBSYSTEM_CONTRACTS_V1.md</a:t>
            </a:r>
          </a:p>
          <a:p xmlns:a="http://schemas.openxmlformats.org/drawingml/2006/main">
            <a:r>
              <a:t>- config/aigc_subsystem_contracts.v1.json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docs/architecture/AIGC_INTEGRATION_CONTRACT_V1.md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docs/governance/AIGC_OMNI_INTEGRATION_MAINNET_FORGE_OMEGA_V1.md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config/aigc_omniproj_apex_v2.json</a:t>
            </a:r>
          </a:p>
          <a:p xmlns:a="http://schemas.openxmlformats.org/drawingml/2006/main">
            <a:r>
              <a:t>- reports/artifacts/aigc_system_atlas_local_snapshot.json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reports/artifacts/aigc_universal_readiness_local_validation.json</a:t>
            </a:r>
          </a:p>
          <a:p xmlns:a="http://schemas.openxmlformats.org/drawingml/2006/main">
            <a:r>
              <a:t>- config/aigc_universal_integration_registry.v1.json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config/aigc_universal_integration_registry.v1.json</a:t>
            </a:r>
          </a:p>
          <a:p xmlns:a="http://schemas.openxmlformats.org/drawingml/2006/main">
            <a:r>
              <a:t>- reports/artifacts/aigc_system_atlas_local_snapshot.json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docs/architecture/AIGC_LLM_LIFECYCLE.md</a:t>
            </a:r>
          </a:p>
          <a:p xmlns:a="http://schemas.openxmlformats.org/drawingml/2006/main">
            <a:r>
              <a:t>- config/aigc_llm_stack.v1.json</a:t>
            </a:r>
          </a:p>
          <a:p xmlns:a="http://schemas.openxmlformats.org/drawingml/2006/main">
            <a:r>
              <a:t>- reports/artifacts/aigc_llm_lifecycle_local_validation.json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config/aigc_wealth_operator_policy.v1.json</a:t>
            </a:r>
          </a:p>
          <a:p xmlns:a="http://schemas.openxmlformats.org/drawingml/2006/main">
            <a:r>
              <a:t>- docs/architecture/AIGC_GOVERNED_WEALTH_OPERATOR_V1.md</a:t>
            </a:r>
          </a:p>
          <a:p xmlns:a="http://schemas.openxmlformats.org/drawingml/2006/main">
            <a:r>
              <a:t>- config/occupation_packs/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RegenExcalibur/universe-spec.md</a:t>
            </a:r>
          </a:p>
          <a:p xmlns:a="http://schemas.openxmlformats.org/drawingml/2006/main">
            <a:r>
              <a:t>- RegenExcalibur/README.md</a:t>
            </a:r>
          </a:p>
          <a:p xmlns:a="http://schemas.openxmlformats.org/drawingml/2006/main">
            <a:r>
              <a:t>- src/regenexcalibur/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reports/artifacts/aigc_universal_readiness_local_validation.json</a:t>
            </a:r>
          </a:p>
          <a:p xmlns:a="http://schemas.openxmlformats.org/drawingml/2006/main">
            <a:r>
              <a:t>- docs/architecture/AIGC_SYSTEM_ATLAS_V1.md</a:t>
            </a:r>
          </a:p>
          <a:p xmlns:a="http://schemas.openxmlformats.org/drawingml/2006/main">
            <a:r>
              <a:t>- https://github.com/Lornt1666/AIGC/pull/220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809944a8345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6efba1c64748c9" /><Relationship Type="http://schemas.openxmlformats.org/officeDocument/2006/relationships/slideLayout" Target="/ppt/slideLayouts/slideLayout1.xml" Id="Ree181b6234014f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181b6234014f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ceae028504102" /><Relationship Type="http://schemas.openxmlformats.org/officeDocument/2006/relationships/notesSlide" Target="/ppt/notesSlides/notesSlide1.xml" Id="Rd9104badec3940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12350dd534e15" /><Relationship Type="http://schemas.openxmlformats.org/officeDocument/2006/relationships/notesSlide" Target="/ppt/notesSlides/notesSlide2.xml" Id="R28ccc6b7ab9f4d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272c1f52747ef" /><Relationship Type="http://schemas.openxmlformats.org/officeDocument/2006/relationships/notesSlide" Target="/ppt/notesSlides/notesSlide3.xml" Id="Rd04cecf384b14b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d0a01483c4ca6" /><Relationship Type="http://schemas.openxmlformats.org/officeDocument/2006/relationships/notesSlide" Target="/ppt/notesSlides/notesSlide4.xml" Id="Rd66d62fa84c343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f58037d304e32" /><Relationship Type="http://schemas.openxmlformats.org/officeDocument/2006/relationships/notesSlide" Target="/ppt/notesSlides/notesSlide5.xml" Id="Raa56002c3a5c47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f5199a5e94f89" /><Relationship Type="http://schemas.openxmlformats.org/officeDocument/2006/relationships/notesSlide" Target="/ppt/notesSlides/notesSlide6.xml" Id="R308e6471a6cd49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2b3d63981490c" /><Relationship Type="http://schemas.openxmlformats.org/officeDocument/2006/relationships/notesSlide" Target="/ppt/notesSlides/notesSlide7.xml" Id="R89a2681fab3846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19b0fd9ef42b7" /><Relationship Type="http://schemas.openxmlformats.org/officeDocument/2006/relationships/chart" Target="/ppt/slides/charts/chart1.xml" Id="R577ad11248bc4b20" /><Relationship Type="http://schemas.openxmlformats.org/officeDocument/2006/relationships/notesSlide" Target="/ppt/notesSlides/notesSlide8.xml" Id="Rd82f968a840b4d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bdcbf60cb4e58" /><Relationship Type="http://schemas.openxmlformats.org/officeDocument/2006/relationships/chart" Target="/ppt/slides/charts/chart2.xml" Id="Ra94c04b818cf4deb" /><Relationship Type="http://schemas.openxmlformats.org/officeDocument/2006/relationships/notesSlide" Target="/ppt/notesSlides/notesSlide9.xml" Id="R525a19e759f643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6bbddf3704c89" /><Relationship Type="http://schemas.openxmlformats.org/officeDocument/2006/relationships/notesSlide" Target="/ppt/notesSlides/notesSlide10.xml" Id="R4425943bb6b742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c8ba6dcca45fa" /><Relationship Type="http://schemas.openxmlformats.org/officeDocument/2006/relationships/notesSlide" Target="/ppt/notesSlides/notesSlide11.xml" Id="Ra59826c2681340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379124b6946b0" /><Relationship Type="http://schemas.openxmlformats.org/officeDocument/2006/relationships/notesSlide" Target="/ppt/notesSlides/notesSlide12.xml" Id="Rc17a2337e69f43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80d5a59f94ce8" /><Relationship Type="http://schemas.openxmlformats.org/officeDocument/2006/relationships/notesSlide" Target="/ppt/notesSlides/notesSlide13.xml" Id="R1c4ab06c9abe4d1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Verified ratio</c:v>
          </c:tx>
          <c:spPr>
            <a:solidFill xmlns:a="http://schemas.openxmlformats.org/drawingml/2006/main">
              <a:srgbClr val="23D7E6"/>
            </a:solidFill>
          </c:spPr>
          <c:cat>
            <c:strLit>
              <c:ptCount val="2"/>
              <c:pt idx="0">
                <c:v>Current</c:v>
              </c:pt>
              <c:pt idx="1">
                <c:v>Release threshold</c:v>
              </c:pt>
            </c:strLit>
          </c:cat>
          <c:val>
            <c:numLit>
              <c:formatCode>General</c:formatCode>
              <c:ptCount val="2"/>
              <c:pt idx="0">
                <c:v>35.3</c:v>
              </c:pt>
              <c:pt idx="1">
                <c:v>95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EAFB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0D2B3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DB7C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1798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AFBF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61521"/>
        </a:solidFill>
      </c:spPr>
    </c:plotArea>
    <c:plotVisOnly val="1"/>
  </c:chart>
  <c:spPr>
    <a:solidFill xmlns:a="http://schemas.openxmlformats.org/drawingml/2006/main">
      <a:srgbClr val="061521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Surfaces</c:v>
          </c:tx>
          <c:dPt>
            <c:idx val="0"/>
            <c:spPr>
              <a:solidFill xmlns:a="http://schemas.openxmlformats.org/drawingml/2006/main">
                <a:srgbClr val="1AAE9F"/>
              </a:solidFill>
            </c:spPr>
          </c:dPt>
          <c:dPt>
            <c:idx val="1"/>
            <c:spPr>
              <a:solidFill xmlns:a="http://schemas.openxmlformats.org/drawingml/2006/main">
                <a:srgbClr val="617984"/>
              </a:solidFill>
            </c:spPr>
          </c:dPt>
          <c:dPt>
            <c:idx val="2"/>
            <c:spPr>
              <a:solidFill xmlns:a="http://schemas.openxmlformats.org/drawingml/2006/main">
                <a:srgbClr val="FF756B"/>
              </a:solidFill>
            </c:spPr>
          </c:dPt>
          <c:cat>
            <c:strLit>
              <c:ptCount val="3"/>
              <c:pt idx="0">
                <c:v>Implemented</c:v>
              </c:pt>
              <c:pt idx="1">
                <c:v>Not implemented</c:v>
              </c:pt>
              <c:pt idx="2">
                <c:v>Blocked</c:v>
              </c:pt>
            </c:strLit>
          </c:cat>
          <c:val>
            <c:numLit>
              <c:formatCode>General</c:formatCode>
              <c:ptCount val="3"/>
              <c:pt idx="0">
                <c:v>5</c:v>
              </c:pt>
              <c:pt idx="1">
                <c:v>2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BFF"/>
                  </a:solidFill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holeSize val="58"/>
      </c:doughnutChart>
      <c:spPr>
        <a:solidFill xmlns:a="http://schemas.openxmlformats.org/drawingml/2006/main">
          <a:srgbClr val="06152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EAFBF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61521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34272-3B44-4AEA-BF93-358CFF9F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409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1D450-08C7-470A-8F77-D6153FE0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EAFBFF"/>
                </a:solidFill>
              </a:defRPr>
            </a:pPr>
            <a:r>
              <a:rPr sz="4800" b="1">
                <a:solidFill>
                  <a:srgbClr val="EAFBFF"/>
                </a:solidFill>
              </a:rPr>
              <a:t>AIGC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F6449-AE21-40F3-B6D6-03AEC1A9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3D7E6"/>
                </a:solidFill>
              </a:defRPr>
            </a:pPr>
            <a:r>
              <a:rPr sz="3900" b="1">
                <a:solidFill>
                  <a:srgbClr val="23D7E6"/>
                </a:solidFill>
              </a:rPr>
              <a:t>SYSTEM ATLAS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1B598-4649-482F-87E1-4765D298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7C2"/>
                </a:solidFill>
              </a:defRPr>
            </a:pPr>
            <a:r>
              <a:rPr sz="1800" b="0">
                <a:solidFill>
                  <a:srgbClr val="9DB7C2"/>
                </a:solidFill>
              </a:rPr>
              <a:t>Artificial Intelligence Gladiator Coliseum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39126-45CC-4EEE-894D-9E995E47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Architecture · Parametrics · Evidence ·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8EC4B-F9C8-4868-8A24-C6A7F8AB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BFF"/>
                </a:solidFill>
              </a:defRPr>
            </a:pPr>
            <a:r>
              <a:rPr sz="1800" b="0">
                <a:solidFill>
                  <a:srgbClr val="EAFBFF"/>
                </a:solidFill>
              </a:rPr>
              <a:t>A governed AI work operating system where capability can grow—but authority cannot grow silently.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4DB89-ED3E-4C73-ACB3-3AAA93E7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984"/>
                </a:solidFill>
              </a:defRPr>
            </a:pPr>
            <a:r>
              <a:rPr sz="975" b="1">
                <a:solidFill>
                  <a:srgbClr val="617984"/>
                </a:solidFill>
              </a:rPr>
              <a:t>Justice Gray Maciocha · RegenExcalibur · 1JGM</a:t>
            </a:r>
          </a:p>
        </p:txBody>
      </p:sp>
    </p:spTree>
    <p:extLst>
      <p:ext uri="{BB962C8B-B14F-4D97-AF65-F5344CB8AC3E}">
        <p14:creationId xmlns:p14="http://schemas.microsoft.com/office/powerpoint/2010/main" val="134634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75DF1-5789-4C8D-A4A3-380969A9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D7E6"/>
                </a:solidFill>
              </a:defRPr>
            </a:pPr>
            <a:r>
              <a:rPr sz="900" b="1">
                <a:solidFill>
                  <a:srgbClr val="23D7E6"/>
                </a:solidFill>
              </a:rPr>
              <a:t>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55D6E-1348-4422-B9E4-EEB9ABD8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BFF"/>
                </a:solidFill>
              </a:defRPr>
            </a:pPr>
            <a:r>
              <a:rPr sz="2700" b="1">
                <a:solidFill>
                  <a:srgbClr val="EAFBFF"/>
                </a:solidFill>
              </a:rPr>
              <a:t>AIGC is a governed work OS—not a chatbot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DE136-FF2D-4C46-9802-EFE875B5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79B09-AEEC-4B35-B299-7C476D5F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D7E6"/>
                </a:solidFill>
              </a:defRPr>
            </a:pPr>
            <a:r>
              <a:rPr sz="2100" b="1">
                <a:solidFill>
                  <a:srgbClr val="23D7E6"/>
                </a:solidFill>
              </a:rPr>
              <a:t>Human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8D0A6-007B-4AF7-9F98-8617CC5C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7984"/>
                </a:solidFill>
              </a:defRPr>
            </a:pPr>
            <a:r>
              <a:rPr sz="1200" b="1">
                <a:solidFill>
                  <a:srgbClr val="617984"/>
                </a:solidFill>
              </a:rPr>
              <a:t>becomes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AEC6C-F795-4672-8A88-0CCC8A23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BFF"/>
                </a:solidFill>
              </a:defRPr>
            </a:pPr>
            <a:r>
              <a:rPr sz="2250" b="1">
                <a:solidFill>
                  <a:srgbClr val="EAFBFF"/>
                </a:solidFill>
              </a:rPr>
              <a:t>typed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34AFB-4190-4ED7-952D-C11FE181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7984"/>
                </a:solidFill>
              </a:defRPr>
            </a:pPr>
            <a:r>
              <a:rPr sz="1200" b="1">
                <a:solidFill>
                  <a:srgbClr val="617984"/>
                </a:solidFill>
              </a:rPr>
              <a:t>then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BDF5C-644F-4440-BB93-58DBF250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BFF"/>
                </a:solidFill>
              </a:defRPr>
            </a:pPr>
            <a:r>
              <a:rPr sz="2250" b="1">
                <a:solidFill>
                  <a:srgbClr val="EAFBFF"/>
                </a:solidFill>
              </a:rPr>
              <a:t>verified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47A02-995F-4F9D-9A79-E20DA062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7984"/>
                </a:solidFill>
              </a:defRPr>
            </a:pPr>
            <a:r>
              <a:rPr sz="1200" b="1">
                <a:solidFill>
                  <a:srgbClr val="617984"/>
                </a:solidFill>
              </a:rPr>
              <a:t>and stops 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98391-0065-4E6D-9808-D3BC8DAA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381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B84E"/>
                </a:solidFill>
              </a:defRPr>
            </a:pPr>
            <a:r>
              <a:rPr sz="2250" b="1">
                <a:solidFill>
                  <a:srgbClr val="F8B84E"/>
                </a:solidFill>
              </a:rPr>
              <a:t>the consequence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5178E-7222-47EB-B213-2C0D807D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61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3A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6CEE6-A4D7-4BEE-935B-8A072A73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0975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1 · Cognitive plane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6BA92-E9E6-4B8A-9CE1-DE0A1523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14550"/>
            <a:ext cx="527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Agents reason, design, draft, simulate, and compare. Output is a proposal—not authority.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BBDBC-DEFA-43E9-AEF0-023769A5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561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23D7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C74C7-CCD1-46CB-8698-AD6B7D55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1945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2 · Governance plane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264D4-BF89-4A3A-BEA0-B734A8BD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527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Verification, policy, identity, privacy, safety, cost, and evidence determine whether work may advance.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81C0A-57E6-48BE-BB02-2C235CBE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95800"/>
            <a:ext cx="561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F8B8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47B3C-8CA4-481A-B481-A81AE519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2915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3 · Execution plane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E5153-22F6-40C0-8F77-146BCBD4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33950"/>
            <a:ext cx="527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Only an exact, scoped, expiring permit may reach a credentialed tool or external system.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868B4-506E-4FB0-BF0A-94FB6803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AIGC SYSTEM ATLAS · LOCAL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53029-631F-4EC9-BFD4-220E1108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2312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93EF6-61D1-48FB-972F-206E969B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D7E6"/>
                </a:solidFill>
              </a:defRPr>
            </a:pPr>
            <a:r>
              <a:rPr sz="900" b="1">
                <a:solidFill>
                  <a:srgbClr val="23D7E6"/>
                </a:solidFill>
              </a:rPr>
              <a:t>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ADF8E-222B-42ED-A2AA-B02B9678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BFF"/>
                </a:solidFill>
              </a:defRPr>
            </a:pPr>
            <a:r>
              <a:rPr sz="2700" b="1">
                <a:solidFill>
                  <a:srgbClr val="EAFBFF"/>
                </a:solidFill>
              </a:rPr>
              <a:t>The repository already spans a bounded capability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F8C31-DD47-4783-8F28-E4B4DD6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22196-DC0E-43B9-AD03-CD995F21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3D7E6"/>
                </a:solidFill>
              </a:defRPr>
            </a:pPr>
            <a:r>
              <a:rPr sz="4350" b="1">
                <a:solidFill>
                  <a:srgbClr val="23D7E6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8BE45-D1F6-44FA-9ECE-5DD3390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integrated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25D15-B34B-411C-AB95-EEB61E5F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6705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A9A95-8750-41A1-8DA5-495937CB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A8DFF"/>
                </a:solidFill>
              </a:defRPr>
            </a:pPr>
            <a:r>
              <a:rPr sz="4350" b="1">
                <a:solidFill>
                  <a:srgbClr val="3A8DFF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E4959-EA37-4DF1-9E82-EF99F9F8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read-only MCP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264EB-4D8A-44C9-94AA-F5CCB8D1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6705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DFF"/>
          </a:solidFill>
          <a:ln xmlns:a="http://schemas.openxmlformats.org/drawingml/2006/main" w="0">
            <a:solidFill>
              <a:srgbClr val="3A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F8371-990B-4FA9-B138-7E546932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AAE9F"/>
                </a:solidFill>
              </a:defRPr>
            </a:pPr>
            <a:r>
              <a:rPr sz="4350" b="1">
                <a:solidFill>
                  <a:srgbClr val="1AAE9F"/>
                </a:solidFill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BF972-9665-4E18-98CE-D1679638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draft occupation packs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AB1DD-9F78-499C-BB12-41672C49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6705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E9F"/>
          </a:solidFill>
          <a:ln xmlns:a="http://schemas.openxmlformats.org/drawingml/2006/main" w="0">
            <a:solidFill>
              <a:srgbClr val="1AAE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9A632-0F78-41E1-B57C-C96DCC57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335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8B84E"/>
                </a:solidFill>
              </a:defRPr>
            </a:pPr>
            <a:r>
              <a:rPr sz="4350" b="1">
                <a:solidFill>
                  <a:srgbClr val="F8B84E"/>
                </a:solidFill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EE68B-EBD8-463A-B221-D6E933DA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wealth-work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BF7D2-F4EF-436B-A8C4-3C53F6C2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6705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84E"/>
          </a:solidFill>
          <a:ln xmlns:a="http://schemas.openxmlformats.org/drawingml/2006/main" w="0">
            <a:solidFill>
              <a:srgbClr val="F8B8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78D36-AD5C-489C-AB1D-96A3E8E4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7E6"/>
                </a:solidFill>
              </a:defRPr>
            </a:pPr>
            <a:r>
              <a:rPr sz="1350" b="1">
                <a:solidFill>
                  <a:srgbClr val="23D7E6"/>
                </a:solidFill>
              </a:rPr>
              <a:t>Also modeled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C02D7-DE19-4CFB-946D-1DD27ABD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FBFF"/>
                </a:solidFill>
              </a:defRPr>
            </a:pPr>
            <a:r>
              <a:rPr sz="2025" b="1">
                <a:solidFill>
                  <a:srgbClr val="EAFBFF"/>
                </a:solidFill>
              </a:rPr>
              <a:t>32 ontology entities · 30 relationships · 8 states · 9 transitions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FAB6D-591D-47B4-B42E-3C0C6F3F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DB7C2"/>
                </a:solidFill>
              </a:defRPr>
            </a:pPr>
            <a:r>
              <a:rPr sz="1725" b="0">
                <a:solidFill>
                  <a:srgbClr val="9DB7C2"/>
                </a:solidFill>
              </a:rPr>
              <a:t>5 methodologies · 6 heuristics · 9 parameters · 6 external blockers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4A65F-350F-4D95-94B9-CEC42321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B84E"/>
                </a:solidFill>
              </a:defRPr>
            </a:pPr>
            <a:r>
              <a:rPr sz="1275" b="1">
                <a:solidFill>
                  <a:srgbClr val="F8B84E"/>
                </a:solidFill>
              </a:rPr>
              <a:t>Counts describe machine-readable scope. They do not prove external certification, deployment, users, revenue, or authority.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A587BD-F376-4B3A-BCEA-5B87D8DE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AIGC SYSTEM ATLAS · LOCAL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DD4B7-6264-4159-AC49-172DBADB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0925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4EA36F-C36A-4069-9114-993E0927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D7E6"/>
                </a:solidFill>
              </a:defRPr>
            </a:pPr>
            <a:r>
              <a:rPr sz="900" b="1">
                <a:solidFill>
                  <a:srgbClr val="23D7E6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73B46-ECE5-4BF9-B826-D3145B8C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BFF"/>
                </a:solidFill>
              </a:defRPr>
            </a:pPr>
            <a:r>
              <a:rPr sz="2700" b="1">
                <a:solidFill>
                  <a:srgbClr val="EAFBFF"/>
                </a:solidFill>
              </a:rPr>
              <a:t>Five integrated systems turn ambition into controlled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B0EEE-C108-4BAA-87FE-3C8E4CDC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47664-F96D-4505-B4BF-6C1E9F4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90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B1B1A-8CCE-4BF3-B67F-62F2B11A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0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8D21C-1EA1-4DDC-B7C8-00FC6C1B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3B572-7ED8-44C9-A66E-546AC8F4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6A501-358E-4B77-B505-EBE7628D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05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9050">
            <a:solidFill>
              <a:srgbClr val="9CE6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B7BD8-643F-46D8-AE1D-316A0A09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CE68A"/>
                </a:solidFill>
              </a:defRPr>
            </a:pPr>
            <a:r>
              <a:rPr sz="1725" b="1">
                <a:solidFill>
                  <a:srgbClr val="9CE68A"/>
                </a:solidFill>
              </a:rPr>
              <a:t>SILVA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77382-FAC2-4F19-B4BA-2843B174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BFF"/>
                </a:solidFill>
              </a:defRPr>
            </a:pPr>
            <a:r>
              <a:rPr sz="1125" b="1">
                <a:solidFill>
                  <a:srgbClr val="EAFBFF"/>
                </a:solidFill>
              </a:rPr>
              <a:t>Compatibility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F90A3-E3F4-40A4-A0D5-1A75806B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DB7C2"/>
                </a:solidFill>
              </a:defRPr>
            </a:pPr>
            <a:r>
              <a:rPr sz="975" b="0">
                <a:solidFill>
                  <a:srgbClr val="9DB7C2"/>
                </a:solidFill>
              </a:rPr>
              <a:t>Where?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44A91-58B4-479B-AC8F-61D31E1F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1905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9050">
            <a:solidFill>
              <a:srgbClr val="1AAE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6D022-A3ED-44F0-9AC0-B9D70883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AAE9F"/>
                </a:solidFill>
              </a:defRPr>
            </a:pPr>
            <a:r>
              <a:rPr sz="1725" b="1">
                <a:solidFill>
                  <a:srgbClr val="1AAE9F"/>
                </a:solidFill>
              </a:rPr>
              <a:t>CHORUS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EE73E-18DE-4D50-96B7-FEE8430D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BFF"/>
                </a:solidFill>
              </a:defRPr>
            </a:pPr>
            <a:r>
              <a:rPr sz="1125" b="1">
                <a:solidFill>
                  <a:srgbClr val="EAFBFF"/>
                </a:solidFill>
              </a:rPr>
              <a:t>Human surface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49B40-CBF2-4EE7-A013-11AFF18F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DB7C2"/>
                </a:solidFill>
              </a:defRPr>
            </a:pPr>
            <a:r>
              <a:rPr sz="975" b="0">
                <a:solidFill>
                  <a:srgbClr val="9DB7C2"/>
                </a:solidFill>
              </a:rPr>
              <a:t>Understand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D8D54-702C-41D7-9889-42544B5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905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9050">
            <a:solidFill>
              <a:srgbClr val="F8B8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F64AD-153E-45A2-B10D-1F7AA6B7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67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B84E"/>
                </a:solidFill>
              </a:defRPr>
            </a:pPr>
            <a:r>
              <a:rPr sz="1725" b="1">
                <a:solidFill>
                  <a:srgbClr val="F8B84E"/>
                </a:solidFill>
              </a:rPr>
              <a:t>HexGate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E51BA-59CE-469A-AFA2-9E9D3C39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BFF"/>
                </a:solidFill>
              </a:defRPr>
            </a:pPr>
            <a:r>
              <a:rPr sz="1125" b="1">
                <a:solidFill>
                  <a:srgbClr val="EAFBFF"/>
                </a:solidFill>
              </a:rPr>
              <a:t>Trust 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D0FE1-4B5F-4391-A93C-A049A66B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DB7C2"/>
                </a:solidFill>
              </a:defRPr>
            </a:pPr>
            <a:r>
              <a:rPr sz="975" b="0">
                <a:solidFill>
                  <a:srgbClr val="9DB7C2"/>
                </a:solidFill>
              </a:rPr>
              <a:t>May?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CC9E0-E4EE-491B-986F-E5CD479B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905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9050">
            <a:solidFill>
              <a:srgbClr val="3A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CDA6D-0432-44E6-91F3-F8B71C86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A8DFF"/>
                </a:solidFill>
              </a:defRPr>
            </a:pPr>
            <a:r>
              <a:rPr sz="1725" b="1">
                <a:solidFill>
                  <a:srgbClr val="3A8DFF"/>
                </a:solidFill>
              </a:rPr>
              <a:t>VANIS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A8D8D-73C4-4960-983C-C1DBEC5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051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BFF"/>
                </a:solidFill>
              </a:defRPr>
            </a:pPr>
            <a:r>
              <a:rPr sz="1125" b="1">
                <a:solidFill>
                  <a:srgbClr val="EAFBFF"/>
                </a:solidFill>
              </a:rPr>
              <a:t>Agent routing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FD394-525E-47C4-A253-CCA5C559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DB7C2"/>
                </a:solidFill>
              </a:defRPr>
            </a:pPr>
            <a:r>
              <a:rPr sz="975" b="0">
                <a:solidFill>
                  <a:srgbClr val="9DB7C2"/>
                </a:solidFill>
              </a:rPr>
              <a:t>Who/how?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51D80-EC66-4343-88ED-AE26746D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905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9050">
            <a:solidFill>
              <a:srgbClr val="23D7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8D0FFE-D21A-42DF-A60E-16776C6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3D7E6"/>
                </a:solidFill>
              </a:defRPr>
            </a:pPr>
            <a:r>
              <a:rPr sz="1725" b="1">
                <a:solidFill>
                  <a:srgbClr val="23D7E6"/>
                </a:solidFill>
              </a:rPr>
              <a:t>Correlation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F6F422-5907-4A65-96A2-508465BF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051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BFF"/>
                </a:solidFill>
              </a:defRPr>
            </a:pPr>
            <a:r>
              <a:rPr sz="1125" b="1">
                <a:solidFill>
                  <a:srgbClr val="EAFBFF"/>
                </a:solidFill>
              </a:rPr>
              <a:t>Evidence truth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C3844B-9AF1-47CF-B466-2FE30DE9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29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DB7C2"/>
                </a:solidFill>
              </a:defRPr>
            </a:pPr>
            <a:r>
              <a:rPr sz="975" b="0">
                <a:solidFill>
                  <a:srgbClr val="9DB7C2"/>
                </a:solidFill>
              </a:rPr>
              <a:t>What happened?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DF22E0-DFBC-4FB3-880C-40A0A44C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148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AFBFF"/>
                </a:solidFill>
              </a:defRPr>
            </a:pPr>
            <a:r>
              <a:rPr sz="2250" b="1">
                <a:solidFill>
                  <a:srgbClr val="EAFBFF"/>
                </a:solidFill>
              </a:rPr>
              <a:t>NEXUS 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64675A-55BC-4C5A-A3A5-F076DD53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48250"/>
            <a:ext cx="758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DB7C2"/>
                </a:solidFill>
              </a:defRPr>
            </a:pPr>
            <a:r>
              <a:rPr sz="1350" b="0">
                <a:solidFill>
                  <a:srgbClr val="9DB7C2"/>
                </a:solidFill>
              </a:rPr>
              <a:t>Canonical state · verification · authority · permits · receipts · reconciliation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F42C63-203B-44B0-BABF-9122F0B9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912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B84E"/>
                </a:solidFill>
              </a:defRPr>
            </a:pPr>
            <a:r>
              <a:rPr sz="1425" b="1">
                <a:solidFill>
                  <a:srgbClr val="F8B84E"/>
                </a:solidFill>
              </a:rPr>
              <a:t>No model, agent, memory, interface, or connector owns global governance.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33E5E9-C798-45BD-8F96-0E220699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AIGC SYSTEM ATLAS · LOCAL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13FF4E-3D27-4329-A188-D01366EB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0196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19B63D-F462-41D0-8F04-A7A321FD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D7E6"/>
                </a:solidFill>
              </a:defRPr>
            </a:pPr>
            <a:r>
              <a:rPr sz="900" b="1">
                <a:solidFill>
                  <a:srgbClr val="23D7E6"/>
                </a:solidFill>
              </a:rPr>
              <a:t>TRUST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866FC-9661-4449-B3EA-6BBFB8DA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BFF"/>
                </a:solidFill>
              </a:defRPr>
            </a:pPr>
            <a:r>
              <a:rPr sz="2700" b="1">
                <a:solidFill>
                  <a:srgbClr val="EAFBFF"/>
                </a:solidFill>
              </a:rPr>
              <a:t>The protocol keeps proposals separate from reality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D113A-8E03-412D-B49F-345DD186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B22FD-2485-4695-B11F-5E6577FF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4790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FF275-CB90-4A21-99EB-BDC048F9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4790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C02F9-90A0-46DA-BE54-6EA6FE31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814AE-1B66-4BB2-B17A-A6E27BA0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01605-B19A-4444-A2EA-29F3FE46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48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E1D04-C96D-4B03-8437-AAC2DAFC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48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1557D-8D03-4D7E-8DBC-E0342E17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48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0DE2B-08C1-49C7-B4DD-728B0E44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C3D7C-BD55-41CA-AE6E-8D8258BF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028950"/>
            <a:ext cx="20955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0A92A-8FB9-43D0-A180-8D3AB062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790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3A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BF1C2-E40E-4582-B3CA-BE087EA9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WorkOrder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125DB-4E3A-4424-8B20-32020F21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objective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9580F-948B-4E2F-BEA9-82FB6879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1790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3A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6ED37-C89E-48A3-9EAD-DF005558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431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5079A-7B5A-4ADC-AB42-18164715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admitted 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577F1-FA61-4FE4-9988-0F6AE52F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1790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3A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A3905-DC8A-4A8A-9682-D4389982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431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Artifact 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052DC-3C48-4A0A-9BB2-7415836E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observed truth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49649-23BC-4997-8266-B600903E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1790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3A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03F4E-CFFB-4343-9E24-12150191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ChangeSet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A21E9C-5A06-4A2F-99D0-BD6AA669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proposal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961288-163F-4795-A950-81582DF0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1790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23D7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80634-FD39-40D5-8D73-D6CEDCB2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431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Verifier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08567-7BAF-4526-A131-9C60A803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479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read-only proof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292E04-2FDF-4E01-916D-3E7F40DB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790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F8B84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D8382-2016-4818-80EB-D8D0AC7A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Decision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168992-4ACF-499D-AB2C-8613810E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promotion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78359F-2B15-4891-A217-C0C833E4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10000"/>
            <a:ext cx="1790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F8B8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1C1D02-5DF4-45BE-A8DE-DDA73CF0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43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Permit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870D2A-D416-476A-B942-BD47B844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481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scoped authority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324877-363D-4D5A-A966-D8D392AF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10000"/>
            <a:ext cx="1790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1AAE9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CEA3D3-1116-4408-B156-38FF9F58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Tool request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E6B9E9-FC84-42DB-9BB2-BA819E4F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481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exact vector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A8A277-B0EA-4409-8AC7-D68BB626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790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1AAE9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7EC50A-F37E-4355-A688-8752640C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Receipt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D57B8E-5AEE-497F-986D-5861B2B4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empirical outcome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2C8AB6-361E-44CD-94B8-C6922313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0"/>
            <a:ext cx="1790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1AAE9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4D1D35-9C82-4C7D-8A58-B756B7CD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43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Artifact n+1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542ECA-2060-42DE-89C5-45C24AE7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481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reconciled truth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65930C-012C-48FD-9F63-647A94BB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994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AFBFF"/>
                </a:solidFill>
              </a:defRPr>
            </a:pPr>
            <a:r>
              <a:rPr sz="2175" b="1">
                <a:solidFill>
                  <a:srgbClr val="EAFBFF"/>
                </a:solidFill>
              </a:rPr>
              <a:t>Reasoning ≠ Verification ≠ Authority ≠ Execution ≠ Evidence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99FC67-3577-48FF-93D2-A43CE13B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AIGC SYSTEM ATLAS · LOCAL 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4BE0C3-B929-4EA8-A1FE-B1EA8C7A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75786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2A6A5E-CB5E-47EB-9B63-9A89CB12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D7E6"/>
                </a:solidFill>
              </a:defRPr>
            </a:pPr>
            <a:r>
              <a:rPr sz="900" b="1">
                <a:solidFill>
                  <a:srgbClr val="23D7E6"/>
                </a:solidFill>
              </a:rPr>
              <a:t>LLM PPM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32839-E411-430E-9B01-B83744F5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BFF"/>
                </a:solidFill>
              </a:defRPr>
            </a:pPr>
            <a:r>
              <a:rPr sz="2700" b="1">
                <a:solidFill>
                  <a:srgbClr val="EAFBFF"/>
                </a:solidFill>
              </a:rPr>
              <a:t>Prompt, Policy, and Memory remain separate on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DEBC8-464E-4572-BA7D-FF15F2F8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B0773-EE78-4F2D-AE4C-8A64C820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5C6DD-D565-4753-AFEA-971B7CA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2F25E-A992-44B6-BF96-C1BB0A17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3A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9CB78-BF39-4E93-963A-3F9A3067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27ADC-1EAF-4C42-9A5B-BE0BED57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2288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Present intent</a:t>
            </a:r>
          </a:p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Current context</a:t>
            </a:r>
          </a:p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Requested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Cannot rewrite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7C86B-C4B1-4A6E-881E-E40416D3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81200"/>
            <a:ext cx="4381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23D7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E6AB0-5024-42D5-AD7D-A9EACDA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145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ORCHESTRATOR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120CC-9D96-41D5-9A40-1D7528E8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19350"/>
            <a:ext cx="4038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Fuses admitted context</a:t>
            </a:r>
          </a:p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Classifies consequence</a:t>
            </a:r>
          </a:p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Builds a bounded plan</a:t>
            </a:r>
          </a:p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Routes verification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8EBF1-9021-46F8-8EFD-CC492955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1AAE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063B5-DEE7-4ACE-B952-C204B0B3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BFDEF-0B59-4C0C-B0FB-22DC0A62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19350"/>
            <a:ext cx="22288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Plan, artifact, or simulation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Not authority</a:t>
            </a:r>
          </a:p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Not external 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2D1A1-7D6D-4662-88C5-CB07425E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3429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F8B8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2B7D9-6444-4115-B334-08ED19E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244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36170-3909-40FF-A472-F4EC6019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29200"/>
            <a:ext cx="308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Allowed capability, risk, authority, cost, retention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BE44D-2697-47F5-AE68-77C11C46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3429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9CE6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D46E7A-57B3-4090-8998-EE594121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244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9A78B-FFA0-4FD0-9ABC-D72F6975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29200"/>
            <a:ext cx="308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Provenance-bound knowledge and preferences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C4597-2C65-4D22-A90E-757D20B2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62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B84E"/>
                </a:solidFill>
              </a:defRPr>
            </a:pPr>
            <a:r>
              <a:rPr sz="1425" b="1">
                <a:solidFill>
                  <a:srgbClr val="F8B84E"/>
                </a:solidFill>
              </a:rPr>
              <a:t>Policy cannot fabricate evidence. Memory cannot grant authority.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780CE-526C-46C6-B59D-1143DEAA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AIGC SYSTEM ATLAS · LOCAL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3E885-4B44-4558-9DE4-99E35C09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326111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4A25B5-344E-42AC-B54D-CDC62F35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D7E6"/>
                </a:solidFill>
              </a:defRPr>
            </a:pPr>
            <a:r>
              <a:rPr sz="900" b="1">
                <a:solidFill>
                  <a:srgbClr val="23D7E6"/>
                </a:solidFill>
              </a:rPr>
              <a:t>PARAMETRICS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A9182-29CC-405E-A90E-A4961568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BFF"/>
                </a:solidFill>
              </a:defRPr>
            </a:pPr>
            <a:r>
              <a:rPr sz="2700" b="1">
                <a:solidFill>
                  <a:srgbClr val="EAFBFF"/>
                </a:solidFill>
              </a:rPr>
              <a:t>Nine parameters make “best possible” falsifiable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FA6EE-5518-427F-9FCF-872CA3B2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3F39A-AB53-47D9-A802-2564113F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FF75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73734-16B3-4790-B8C6-34D91452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56B"/>
                </a:solidFill>
              </a:defRPr>
            </a:pPr>
            <a:r>
              <a:rPr sz="1350" b="1">
                <a:solidFill>
                  <a:srgbClr val="FF756B"/>
                </a:solidFill>
              </a:rPr>
              <a:t>GUARDRAILS ·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DF851-2E77-4385-AA37-18C7BACA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N_unauthorized = 0</a:t>
            </a:r>
          </a:p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N_secret_exposure = 0</a:t>
            </a:r>
          </a:p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N_ambiguous_retry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8BB60-A6F2-42EE-9CB6-841976B3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23D7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14C39-766D-448C-BAE4-24D21696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7E6"/>
                </a:solidFill>
              </a:defRPr>
            </a:pPr>
            <a:r>
              <a:rPr sz="1350" b="1">
                <a:solidFill>
                  <a:srgbClr val="23D7E6"/>
                </a:solidFill>
              </a:rPr>
              <a:t>LEADING ·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DEB45-E2C9-4957-8209-180C2541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C_connector = 1.0</a:t>
            </a:r>
          </a:p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C_verify = 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E0CA9-ACFE-4868-857D-64F43AE8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1AAE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40DB3-20DA-4A5F-8E96-ADA83EE2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AE9F"/>
                </a:solidFill>
              </a:defRPr>
            </a:pPr>
            <a:r>
              <a:rPr sz="1350" b="1">
                <a:solidFill>
                  <a:srgbClr val="1AAE9F"/>
                </a:solidFill>
              </a:rPr>
              <a:t>LAGGING ·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F7A7A-E35A-4A5B-A418-860D18D1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R_task_success</a:t>
            </a:r>
          </a:p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R_correction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77C20-0280-428E-8909-5819F0E6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14800"/>
            <a:ext cx="4095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F8B8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47BBC-1552-4DD0-ABF9-0FE210A2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86250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B84E"/>
                </a:solidFill>
              </a:defRPr>
            </a:pPr>
            <a:r>
              <a:rPr sz="1350" b="1">
                <a:solidFill>
                  <a:srgbClr val="F8B84E"/>
                </a:solidFill>
              </a:rPr>
              <a:t>CONTROL ·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1D065-FF5B-43EA-A064-859BC8C4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05350"/>
            <a:ext cx="3752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B_external = one exact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3E4CD-6B6F-4632-AF47-EF7415BB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14800"/>
            <a:ext cx="4095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9CE6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65BEB-6237-45DB-BEE7-58B5E3E5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E68A"/>
                </a:solidFill>
              </a:defRPr>
            </a:pPr>
            <a:r>
              <a:rPr sz="1350" b="1">
                <a:solidFill>
                  <a:srgbClr val="9CE68A"/>
                </a:solidFill>
              </a:rPr>
              <a:t>OBJECTIVE ·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160A4-F28A-4BCB-A3B9-892D5C1A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05350"/>
            <a:ext cx="3752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C_task = CAD / verified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2FF7F-7F40-490A-9CBD-1A7AF8FB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57900"/>
            <a:ext cx="998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DB7C2"/>
                </a:solidFill>
              </a:defRPr>
            </a:pPr>
            <a:r>
              <a:rPr sz="1275" b="1">
                <a:solidFill>
                  <a:srgbClr val="9DB7C2"/>
                </a:solidFill>
              </a:rPr>
              <a:t>Anti-Goodhart pairing: cost ↔ quality · incidents ↔ telemetry · certification ↔ blast radius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616C7-1825-4693-A568-0ED6B4D6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AIGC SYSTEM ATLAS · LOCAL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E4D8C-0DE2-4B22-A5C2-A84254E0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9167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6F650-611A-40A9-ADFC-2849E819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D7E6"/>
                </a:solidFill>
              </a:defRPr>
            </a:pPr>
            <a:r>
              <a:rPr sz="900" b="1">
                <a:solidFill>
                  <a:srgbClr val="23D7E6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DE6F2-8FB2-4144-820D-6BCAA33D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BFF"/>
                </a:solidFill>
              </a:defRPr>
            </a:pPr>
            <a:r>
              <a:rPr sz="2700" b="1">
                <a:solidFill>
                  <a:srgbClr val="EAFBFF"/>
                </a:solidFill>
              </a:rPr>
              <a:t>Readiness is 12 of 34 checks—not a confidence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BB92D-A9EF-42B6-92D1-3194CAA3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27ACC-3776-45F2-AA5E-E17C9165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3D7E6"/>
                </a:solidFill>
              </a:defRPr>
            </a:pPr>
            <a:r>
              <a:rPr sz="4650" b="1">
                <a:solidFill>
                  <a:srgbClr val="23D7E6"/>
                </a:solidFill>
              </a:rPr>
              <a:t>35.3%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DFCEF-9945-411D-9D72-CA34BF10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verified applicable ratio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DDA89-DD11-4453-AB47-E3DE5AC4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B84E"/>
                </a:solidFill>
              </a:defRPr>
            </a:pPr>
            <a:r>
              <a:rPr sz="1350" b="1">
                <a:solidFill>
                  <a:srgbClr val="F8B84E"/>
                </a:solidFill>
              </a:rPr>
              <a:t>Release threshold: 95% + all required authorities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D06B4-CE3A-4136-A2B7-4983A432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B7C2"/>
                </a:solidFill>
              </a:defRPr>
            </a:pPr>
            <a:r>
              <a:rPr sz="1350" b="1">
                <a:solidFill>
                  <a:srgbClr val="9DB7C2"/>
                </a:solidFill>
              </a:rPr>
              <a:t>Production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A0C8D-84BD-4855-961D-BEA4B753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756B"/>
                </a:solidFill>
              </a:defRPr>
            </a:pPr>
            <a:r>
              <a:rPr sz="2550" b="1">
                <a:solidFill>
                  <a:srgbClr val="FF756B"/>
                </a:solidFill>
              </a:rPr>
              <a:t>FALSE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762500" y="1695450"/>
          <a:ext xmlns:a="http://schemas.openxmlformats.org/drawingml/2006/main" cx="638175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7ad11248bc4b2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1DC6A-7AEA-4547-9478-679BDBF8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6260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B84E"/>
                </a:solidFill>
              </a:defRPr>
            </a:pPr>
            <a:r>
              <a:rPr sz="1350" b="1">
                <a:solidFill>
                  <a:srgbClr val="F8B84E"/>
                </a:solidFill>
              </a:rPr>
              <a:t>22 required checks remain unverified; missing authority is not repairable by rhetoric.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CCE79-3CCF-482F-970B-CB41D991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AIGC SYSTEM ATLAS · LOCAL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9D9BE-966E-475B-B5A0-814C5800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3170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1A4539-E79B-4DEB-A5A8-44D3B233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D7E6"/>
                </a:solidFill>
              </a:defRPr>
            </a:pPr>
            <a:r>
              <a:rPr sz="900" b="1">
                <a:solidFill>
                  <a:srgbClr val="23D7E6"/>
                </a:solidFill>
              </a:rPr>
              <a:t>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62AE0-3CA1-43A1-9369-BA066CE2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BFF"/>
                </a:solidFill>
              </a:defRPr>
            </a:pPr>
            <a:r>
              <a:rPr sz="2700" b="1">
                <a:solidFill>
                  <a:srgbClr val="EAFBFF"/>
                </a:solidFill>
              </a:rPr>
              <a:t>Implemented source surfaces still need external receipts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487A6-FEF9-46B2-89CF-64618D95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4095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4c04b818cf4de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E75FD-7C22-419F-864A-1AC2051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38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7E6"/>
                </a:solidFill>
              </a:defRPr>
            </a:pPr>
            <a:r>
              <a:rPr sz="975" b="1">
                <a:solidFill>
                  <a:srgbClr val="23D7E6"/>
                </a:solidFill>
              </a:rPr>
              <a:t>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72A5D-D25F-490B-B29F-FC33FB04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7E6"/>
                </a:solidFill>
              </a:defRPr>
            </a:pPr>
            <a:r>
              <a:rPr sz="975" b="1">
                <a:solidFill>
                  <a:srgbClr val="23D7E6"/>
                </a:solidFill>
              </a:rPr>
              <a:t>RECEIPTS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73A37-2E50-42DA-8D77-D3EF3999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38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7E6"/>
                </a:solidFill>
              </a:defRPr>
            </a:pPr>
            <a:r>
              <a:rPr sz="975" b="1">
                <a:solidFill>
                  <a:srgbClr val="23D7E6"/>
                </a:solidFill>
              </a:rPr>
              <a:t>PRIMARY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7BDFA-37D9-4079-BA11-568A6FB8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669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DDA9C-E47D-4D71-9B26-C56106D0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38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BFF"/>
                </a:solidFill>
              </a:defRPr>
            </a:pPr>
            <a:r>
              <a:rPr sz="1275" b="1">
                <a:solidFill>
                  <a:srgbClr val="EAFBFF"/>
                </a:solidFill>
              </a:rPr>
              <a:t>Linux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C33E8-EEC6-488B-A2BC-CEBE6E7E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B84E"/>
                </a:solidFill>
              </a:defRPr>
            </a:pPr>
            <a:r>
              <a:rPr sz="1275" b="1">
                <a:solidFill>
                  <a:srgbClr val="F8B84E"/>
                </a:solidFill>
              </a:rPr>
              <a:t>0 /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17314-CB01-4DFA-906B-D3D15CA1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hosted artifact + runtime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E49F6-1476-41FB-8B7E-984B599C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61C92-B532-45F8-BB40-DCF48E3E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384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BFF"/>
                </a:solidFill>
              </a:defRPr>
            </a:pPr>
            <a:r>
              <a:rPr sz="1275" b="1">
                <a:solidFill>
                  <a:srgbClr val="EAFBFF"/>
                </a:solidFill>
              </a:rPr>
              <a:t>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9F447-58A8-46F0-B0FC-CCA55223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384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B84E"/>
                </a:solidFill>
              </a:defRPr>
            </a:pPr>
            <a:r>
              <a:rPr sz="1275" b="1">
                <a:solidFill>
                  <a:srgbClr val="F8B84E"/>
                </a:solidFill>
              </a:rPr>
              <a:t>0 /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5798E-0942-4A59-ACB7-7569A2BA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browser + accessibility +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2C793-F031-492A-AFEE-104EE279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6712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9F304-8FBF-4721-A3A8-27A497CA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BFF"/>
                </a:solidFill>
              </a:defRPr>
            </a:pPr>
            <a:r>
              <a:rPr sz="1275" b="1">
                <a:solidFill>
                  <a:srgbClr val="EAFBFF"/>
                </a:solidFill>
              </a:rPr>
              <a:t>ChatGPT MCP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9D8A35-ED61-4948-BE59-FB5116A2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AE9F"/>
                </a:solidFill>
              </a:defRPr>
            </a:pPr>
            <a:r>
              <a:rPr sz="1275" b="1">
                <a:solidFill>
                  <a:srgbClr val="1AAE9F"/>
                </a:solidFill>
              </a:rPr>
              <a:t>3 /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935D1-FC1C-448B-843C-3A2B4543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host validation + exact-head 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39284-1637-49B7-9942-BEC69461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672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C678A3-FA0B-48F1-B5A7-35424CD2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385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BFF"/>
                </a:solidFill>
              </a:defRPr>
            </a:pPr>
            <a:r>
              <a:rPr sz="1275" b="1">
                <a:solidFill>
                  <a:srgbClr val="EAFBFF"/>
                </a:solidFill>
              </a:rPr>
              <a:t>Gemini 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9AE97-2861-4984-AE25-8C8C4F22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385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B84E"/>
                </a:solidFill>
              </a:defRPr>
            </a:pPr>
            <a:r>
              <a:rPr sz="1275" b="1">
                <a:solidFill>
                  <a:srgbClr val="F8B84E"/>
                </a:solidFill>
              </a:rPr>
              <a:t>0 /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79BEEA-CBEC-462E-B348-781CDB7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385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client + hosted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B49098-432A-4CD4-894E-8C439834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672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6CB8D-9639-4CD4-BD22-22258E7F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38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BFF"/>
                </a:solidFill>
              </a:defRPr>
            </a:pPr>
            <a:r>
              <a:rPr sz="1275" b="1">
                <a:solidFill>
                  <a:srgbClr val="EAFBFF"/>
                </a:solidFill>
              </a:rPr>
              <a:t>iOS / Android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B94BB6-8BE4-4BF8-9B59-6239957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B84E"/>
                </a:solidFill>
              </a:defRPr>
            </a:pPr>
            <a:r>
              <a:rPr sz="1275" b="1">
                <a:solidFill>
                  <a:srgbClr val="F8B84E"/>
                </a:solidFill>
              </a:rPr>
              <a:t>0 / 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8F17BF-24D9-49A9-A54B-A9270D1D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native targets + store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ED7A96-854D-4EB3-A957-8A1BFA43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673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949C41-75B8-4144-8232-C03376CE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387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BFF"/>
                </a:solidFill>
              </a:defRPr>
            </a:pPr>
            <a:r>
              <a:rPr sz="1275" b="1">
                <a:solidFill>
                  <a:srgbClr val="EAFBFF"/>
                </a:solidFill>
              </a:rPr>
              <a:t>Blockchain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AA9FB8-1328-4F81-91DD-55BD8EF4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387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B84E"/>
                </a:solidFill>
              </a:defRPr>
            </a:pPr>
            <a:r>
              <a:rPr sz="1275" b="1">
                <a:solidFill>
                  <a:srgbClr val="F8B84E"/>
                </a:solidFill>
              </a:rPr>
              <a:t>0 / 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879D43-E0E2-498C-8ABD-EB30FE66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387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purpose + legal + custody +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FB1C31-F094-44D6-B1D8-2F2B7AFB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829300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B84E"/>
                </a:solidFill>
              </a:defRPr>
            </a:pPr>
            <a:r>
              <a:rPr sz="1200" b="1">
                <a:solidFill>
                  <a:srgbClr val="F8B84E"/>
                </a:solidFill>
              </a:rPr>
              <a:t>“Implemented” describes source. “Production ready” requires current identity, authority, environment, and recovery evidence.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CAC240-B9A3-48D9-A13F-B1077DDE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AIGC SYSTEM ATLAS · LOCAL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0B0DB5-3231-42F7-A0DE-96146C0B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60209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F216BB-8807-4335-ADA4-9113954E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D7E6"/>
                </a:solidFill>
              </a:defRPr>
            </a:pPr>
            <a:r>
              <a:rPr sz="900" b="1">
                <a:solidFill>
                  <a:srgbClr val="23D7E6"/>
                </a:solidFill>
              </a:rPr>
              <a:t>LLM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302FC-3BE0-4CBD-85F7-70E39447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BFF"/>
                </a:solidFill>
              </a:defRPr>
            </a:pPr>
            <a:r>
              <a:rPr sz="2700" b="1">
                <a:solidFill>
                  <a:srgbClr val="EAFBFF"/>
                </a:solidFill>
              </a:rPr>
              <a:t>The LLM stack stops at a governed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2D65E-D3A4-490D-A358-99BC7050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DCD2F-09BE-4A04-A1EF-8017CD63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765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B2ABA-C0BE-4AD6-97CB-4D92D966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765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A1177-80FC-4B1B-AC2A-260F1B0E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765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438DD-00ED-4360-99D3-F7CC2749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765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9D872-F05C-4B03-9162-0C8DF450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8765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984"/>
          </a:solidFill>
          <a:ln xmlns:a="http://schemas.openxmlformats.org/drawingml/2006/main" w="0">
            <a:solidFill>
              <a:srgbClr val="61798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8BC7A-7995-4DFE-9DFB-D1208E7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581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9CE6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E6914-5FD1-41E4-8B16-B563FE0F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01662-F10A-48F3-AA76-60F22107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rights-gated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C7C9B-D03D-494F-A9CF-0B35F8D6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1581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23D7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2C9F8-52F0-4B0B-B24A-70CFC98E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14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Byte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836A3-CED5-493B-AC21-CB1B38E8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lossless UTF-8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7000E-1EB6-4C36-B947-B667E267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581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3A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92914-1F63-4413-9B6D-022969F6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E347C-8F19-4DC9-A4B7-F0F4FED3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bounded samples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622F7-DFA2-4DDB-9C84-1325C010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581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1AAE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DBB2D-DCF0-416A-9B6F-90AD8489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Transformer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6714C-B00A-4121-9375-A742F92B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causal reference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DFC72-5F6E-467D-A9B9-BE1D48F2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1581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F8B8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93E3E-65DC-4A05-9845-2A195ABD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14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Training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BE299C-6073-4047-B90B-F71D2B32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disabled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68C00-4E83-4802-8978-B354DDE8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81250"/>
            <a:ext cx="1581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4288">
            <a:solidFill>
              <a:srgbClr val="FF75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3CF5E-BAE8-4319-9ECF-880F04A8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14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Serving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D8A9E2-991E-401B-AC78-E5DAB5E9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194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7C2"/>
                </a:solidFill>
              </a:defRPr>
            </a:pPr>
            <a:r>
              <a:rPr sz="1050" b="0">
                <a:solidFill>
                  <a:srgbClr val="9DB7C2"/>
                </a:solidFill>
              </a:rPr>
              <a:t>plan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777FA4-F19A-461C-927A-D98FEFDA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3D7E6"/>
                </a:solidFill>
              </a:defRPr>
            </a:pPr>
            <a:r>
              <a:rPr sz="3300" b="1">
                <a:solidFill>
                  <a:srgbClr val="23D7E6"/>
                </a:solidFill>
              </a:rPr>
              <a:t>0 CAD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109A2-D26A-49A5-8AEF-1DC963B9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DB7C2"/>
                </a:solidFill>
              </a:defRPr>
            </a:pPr>
            <a:r>
              <a:rPr sz="1200" b="1">
                <a:solidFill>
                  <a:srgbClr val="9DB7C2"/>
                </a:solidFill>
              </a:rPr>
              <a:t>training ceiling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679787-21EB-4185-9857-A0449B6E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624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3D7E6"/>
                </a:solidFill>
              </a:defRPr>
            </a:pPr>
            <a:r>
              <a:rPr sz="3300" b="1">
                <a:solidFill>
                  <a:srgbClr val="23D7E6"/>
                </a:solidFill>
              </a:rPr>
              <a:t>0 GPU 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9ECD17-A785-4D0F-B8E9-331A17F4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10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DB7C2"/>
                </a:solidFill>
              </a:defRPr>
            </a:pPr>
            <a:r>
              <a:rPr sz="1200" b="1">
                <a:solidFill>
                  <a:srgbClr val="9DB7C2"/>
                </a:solidFill>
              </a:rPr>
              <a:t>committed envelope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69821-68B1-4D8D-9530-56FBB02A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624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3D7E6"/>
                </a:solidFill>
              </a:defRPr>
            </a:pPr>
            <a:r>
              <a:rPr sz="3300" b="1">
                <a:solidFill>
                  <a:srgbClr val="23D7E6"/>
                </a:solidFill>
              </a:rPr>
              <a:t>0 calls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DB58F2-6AD0-47F7-8527-F36F1734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DB7C2"/>
                </a:solidFill>
              </a:defRPr>
            </a:pPr>
            <a:r>
              <a:rPr sz="1200" b="1">
                <a:solidFill>
                  <a:srgbClr val="9DB7C2"/>
                </a:solidFill>
              </a:rPr>
              <a:t>provider dispatch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05B4F8-947A-4B35-A7D2-FF7C1EFC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721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B84E"/>
                </a:solidFill>
              </a:defRPr>
            </a:pPr>
            <a:r>
              <a:rPr sz="1350" b="1">
                <a:solidFill>
                  <a:srgbClr val="F8B84E"/>
                </a:solidFill>
              </a:rPr>
              <a:t>Byte tokenizer ≠ trained BPE · DPO reference exists · PPO-RLHF remains unexecuted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D9944B-AE96-4426-B23B-FB7B751F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AIGC SYSTEM ATLAS · LOCAL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359560-2279-4C3E-A73C-B69FF0C8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30800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D8328-72A6-4D20-8783-0CFFE4C4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D7E6"/>
                </a:solidFill>
              </a:defRPr>
            </a:pPr>
            <a:r>
              <a:rPr sz="900" b="1">
                <a:solidFill>
                  <a:srgbClr val="23D7E6"/>
                </a:solidFill>
              </a:rPr>
              <a:t>WORK + PROSPERITY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8B30A-1579-44F5-A59E-674F5719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BFF"/>
                </a:solidFill>
              </a:defRPr>
            </a:pPr>
            <a:r>
              <a:rPr sz="2700" b="1">
                <a:solidFill>
                  <a:srgbClr val="EAFBFF"/>
                </a:solidFill>
              </a:rPr>
              <a:t>Supervised work expands capability—not financial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A792C-322E-44EF-8A53-79C5CBCA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6B9A9-13AB-47CC-9D98-03ABE660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AAE9F"/>
                </a:solidFill>
              </a:defRPr>
            </a:pPr>
            <a:r>
              <a:rPr sz="4350" b="1">
                <a:solidFill>
                  <a:srgbClr val="1AAE9F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4C453-EC32-4EC7-828B-3F5E14C8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FBFF"/>
                </a:solidFill>
              </a:defRPr>
            </a:pPr>
            <a:r>
              <a:rPr sz="1350" b="1">
                <a:solidFill>
                  <a:srgbClr val="EAFBFF"/>
                </a:solidFill>
              </a:rPr>
              <a:t>draft occupation packs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58F82-B3F5-481F-8334-A79EA577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DB7C2"/>
                </a:solidFill>
              </a:defRPr>
            </a:pPr>
            <a:r>
              <a:rPr sz="1125" b="0">
                <a:solidFill>
                  <a:srgbClr val="9DB7C2"/>
                </a:solidFill>
              </a:rPr>
              <a:t>Employer/evaluator evidence 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53641-E347-45EC-82AF-4E320214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657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AAE9F"/>
          </a:solidFill>
          <a:ln xmlns:a="http://schemas.openxmlformats.org/drawingml/2006/main" w="0">
            <a:solidFill>
              <a:srgbClr val="1AAE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5C985-9164-49F9-A393-D25205A5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1521"/>
                </a:solidFill>
              </a:defRPr>
            </a:pPr>
            <a:r>
              <a:rPr sz="2025" b="1">
                <a:solidFill>
                  <a:srgbClr val="061521"/>
                </a:solidFill>
              </a:rPr>
              <a:t>7 policy-path 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B9AF6-BA4E-4C67-8317-E58B9603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BFF"/>
                </a:solidFill>
              </a:defRPr>
            </a:pPr>
            <a:r>
              <a:rPr sz="1275" b="1">
                <a:solidFill>
                  <a:srgbClr val="EAFBFF"/>
                </a:solidFill>
              </a:rPr>
              <a:t>public zero-cost research · local drafts · reversible 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F73D7-9114-4101-AAD4-4702C87B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6572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B84E"/>
          </a:solidFill>
          <a:ln xmlns:a="http://schemas.openxmlformats.org/drawingml/2006/main" w="0">
            <a:solidFill>
              <a:srgbClr val="F8B8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BE854-D79D-4227-8A60-771832C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1521"/>
                </a:solidFill>
              </a:defRPr>
            </a:pPr>
            <a:r>
              <a:rPr sz="2025" b="1">
                <a:solidFill>
                  <a:srgbClr val="061521"/>
                </a:solidFill>
              </a:rPr>
              <a:t>9 approval-gated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CC88C-FAA0-46B9-B2FD-C77BC488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292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BFF"/>
                </a:solidFill>
              </a:defRPr>
            </a:pPr>
            <a:r>
              <a:rPr sz="1275" b="1">
                <a:solidFill>
                  <a:srgbClr val="EAFBFF"/>
                </a:solidFill>
              </a:rPr>
              <a:t>persist · submit · send · contract · charge · transfer · trade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82E00-6664-4CE4-A981-12461EE9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B84E"/>
                </a:solidFill>
              </a:defRPr>
            </a:pPr>
            <a:r>
              <a:rPr sz="1275" b="1">
                <a:solidFill>
                  <a:srgbClr val="F8B84E"/>
                </a:solidFill>
              </a:rPr>
              <a:t>AIGC can prepare value. It cannot promise income, deduct prohibited worker fees, or execute financial consequences without exact agreement and authority.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798AF-B253-4936-851B-8D5F2B4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AIGC SYSTEM ATLAS · LOCAL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7F2CC-1005-4637-9E9B-FCBF14BE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05687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9ACB3B-1142-44C6-8FF2-ED65B07D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D7E6"/>
                </a:solidFill>
              </a:defRPr>
            </a:pPr>
            <a:r>
              <a:rPr sz="900" b="1">
                <a:solidFill>
                  <a:srgbClr val="23D7E6"/>
                </a:solidFill>
              </a:rPr>
              <a:t>NARRATIVE TRANSLATION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4FFB3-2733-40D3-9043-D6B56AFA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BFF"/>
                </a:solidFill>
              </a:defRPr>
            </a:pPr>
            <a:r>
              <a:rPr sz="2700" b="1">
                <a:solidFill>
                  <a:srgbClr val="EAFBFF"/>
                </a:solidFill>
              </a:rPr>
              <a:t>Mythic language maps to concrete mechanisms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B7901-F33D-4D55-BFD7-79DA272A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4C935-5653-41FE-B6FD-675DB307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7E6"/>
                </a:solidFill>
              </a:defRPr>
            </a:pPr>
            <a:r>
              <a:rPr sz="1350" b="1">
                <a:solidFill>
                  <a:srgbClr val="23D7E6"/>
                </a:solidFill>
              </a:rPr>
              <a:t>Prime Kernel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F8089-51D5-44A1-BA48-79739F78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57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BFF"/>
                </a:solidFill>
              </a:defRPr>
            </a:pPr>
            <a:r>
              <a:rPr sz="1200" b="0">
                <a:solidFill>
                  <a:srgbClr val="EAFBFF"/>
                </a:solidFill>
              </a:rPr>
              <a:t>deterministic orchestration + invariants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A76E7-0CDC-4A2B-BE69-D1BDE055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A27BE-228B-414F-8304-5F66148E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7E6"/>
                </a:solidFill>
              </a:defRPr>
            </a:pPr>
            <a:r>
              <a:rPr sz="1350" b="1">
                <a:solidFill>
                  <a:srgbClr val="23D7E6"/>
                </a:solidFill>
              </a:rPr>
              <a:t>Agent 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5FAE8-C119-4FAB-A82C-4FBD0BE9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67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BFF"/>
                </a:solidFill>
              </a:defRPr>
            </a:pPr>
            <a:r>
              <a:rPr sz="1200" b="0">
                <a:solidFill>
                  <a:srgbClr val="EAFBFF"/>
                </a:solidFill>
              </a:rPr>
              <a:t>fixed typed role descriptors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E5F81-A731-4D37-AB0C-6A4B426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4D8BC-6C42-4002-B3BD-BFC22073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7E6"/>
                </a:solidFill>
              </a:defRPr>
            </a:pPr>
            <a:r>
              <a:rPr sz="1350" b="1">
                <a:solidFill>
                  <a:srgbClr val="23D7E6"/>
                </a:solidFill>
              </a:rPr>
              <a:t>Design Crucible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54FFC-88B0-4389-BCAA-DC38072E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766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BFF"/>
                </a:solidFill>
              </a:defRPr>
            </a:pPr>
            <a:r>
              <a:rPr sz="1200" b="0">
                <a:solidFill>
                  <a:srgbClr val="EAFBFF"/>
                </a:solidFill>
              </a:rPr>
              <a:t>architecture + ontology proposals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D0DF3-7E4A-4385-B9FE-F7F615B1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0F14A-8441-4BF7-8700-E45C0375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7E6"/>
                </a:solidFill>
              </a:defRPr>
            </a:pPr>
            <a:r>
              <a:rPr sz="1350" b="1">
                <a:solidFill>
                  <a:srgbClr val="23D7E6"/>
                </a:solidFill>
              </a:rPr>
              <a:t>Engineering Loom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74974-0022-4861-9271-C0A6F088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BFF"/>
                </a:solidFill>
              </a:defRPr>
            </a:pPr>
            <a:r>
              <a:rPr sz="1200" b="0">
                <a:solidFill>
                  <a:srgbClr val="EAFBFF"/>
                </a:solidFill>
              </a:rPr>
              <a:t>modules + APIs + schemas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AD428-4E67-49C9-A6C2-538C038A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30108-CB3D-4627-9200-17DD58AE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7E6"/>
                </a:solidFill>
              </a:defRPr>
            </a:pPr>
            <a:r>
              <a:rPr sz="1350" b="1">
                <a:solidFill>
                  <a:srgbClr val="23D7E6"/>
                </a:solidFill>
              </a:rPr>
              <a:t>Pipeline Serpent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06B7A-CC4C-486E-9DF6-C8E94FD4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BFF"/>
                </a:solidFill>
              </a:defRPr>
            </a:pPr>
            <a:r>
              <a:rPr sz="1200" b="0">
                <a:solidFill>
                  <a:srgbClr val="EAFBFF"/>
                </a:solidFill>
              </a:rPr>
              <a:t>CI + security + recovery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0909C-EEF9-4AE8-B7AB-E9AFA22D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E75BB-CCCD-47D2-8115-792AE455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7E6"/>
                </a:solidFill>
              </a:defRPr>
            </a:pPr>
            <a:r>
              <a:rPr sz="1350" b="1">
                <a:solidFill>
                  <a:srgbClr val="23D7E6"/>
                </a:solidFill>
              </a:rPr>
              <a:t>LIFE Beacon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0BF19-EB07-4CDE-81A5-2E2341D0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BFF"/>
                </a:solidFill>
              </a:defRPr>
            </a:pPr>
            <a:r>
              <a:rPr sz="1200" b="0">
                <a:solidFill>
                  <a:srgbClr val="EAFBFF"/>
                </a:solidFill>
              </a:rPr>
              <a:t>human, ecological, factual, privacy constraints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F003C-B999-4C21-9DA0-DD216E4B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DD4141-C733-4DF5-B83F-D5178A06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7E6"/>
                </a:solidFill>
              </a:defRPr>
            </a:pPr>
            <a:r>
              <a:rPr sz="1350" b="1">
                <a:solidFill>
                  <a:srgbClr val="23D7E6"/>
                </a:solidFill>
              </a:rPr>
              <a:t>Evolution Spire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E3958-C426-4B2C-95BF-F268130C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BFF"/>
                </a:solidFill>
              </a:defRPr>
            </a:pPr>
            <a:r>
              <a:rPr sz="1200" b="0">
                <a:solidFill>
                  <a:srgbClr val="EAFBFF"/>
                </a:solidFill>
              </a:rPr>
              <a:t>bounded reviewed patch recursion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BA8CD-778D-4718-AA55-05AAF097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B18FE-14B2-4B8E-A33B-8950A9E3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7E6"/>
                </a:solidFill>
              </a:defRPr>
            </a:pPr>
            <a:r>
              <a:rPr sz="1350" b="1">
                <a:solidFill>
                  <a:srgbClr val="23D7E6"/>
                </a:solidFill>
              </a:rPr>
              <a:t>Universe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B342C-5F8C-497B-8591-D59087E7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BFF"/>
                </a:solidFill>
              </a:defRPr>
            </a:pPr>
            <a:r>
              <a:rPr sz="1200" b="0">
                <a:solidFill>
                  <a:srgbClr val="EAFBFF"/>
                </a:solidFill>
              </a:rPr>
              <a:t>portable plan-only zero-egress interface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EB7E73-AD0E-4ACF-990C-22DF08FB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5059BB-0AC8-44F4-8D8B-22819E68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B84E"/>
                </a:solidFill>
              </a:defRPr>
            </a:pPr>
            <a:r>
              <a:rPr sz="1350" b="1">
                <a:solidFill>
                  <a:srgbClr val="F8B84E"/>
                </a:solidFill>
              </a:rPr>
              <a:t>Self-designing = generates reviewable proposals. Self-evolving = proposes bounded patches. Neither means silent self-modification or independent legal agency.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483A87-09D7-4B00-BC76-62C07F2E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AIGC SYSTEM ATLAS · LOCAL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BED735-110A-456A-9AF2-19EF0306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543401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3E0679-E9EC-4230-82EB-625AAE0A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D7E6"/>
                </a:solidFill>
              </a:defRPr>
            </a:pPr>
            <a:r>
              <a:rPr sz="900" b="1">
                <a:solidFill>
                  <a:srgbClr val="23D7E6"/>
                </a:solidFill>
              </a:rPr>
              <a:t>CRITICAL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A4258-C825-4DF2-B6F9-259E6608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BFF"/>
                </a:solidFill>
              </a:defRPr>
            </a:pPr>
            <a:r>
              <a:rPr sz="2700" b="1">
                <a:solidFill>
                  <a:srgbClr val="EAFBFF"/>
                </a:solidFill>
              </a:rPr>
              <a:t>The next frontier is evidence at real 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925A3-3799-48C4-8783-0B4B5324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7E6"/>
          </a:solidFill>
          <a:ln xmlns:a="http://schemas.openxmlformats.org/drawingml/2006/main" w="0">
            <a:solidFill>
              <a:srgbClr val="23D7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DAA03-6384-4E81-A56F-4A2CECF3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3D7E6"/>
                </a:solidFill>
              </a:defRPr>
            </a:pPr>
            <a:r>
              <a:rPr sz="2550" b="1">
                <a:solidFill>
                  <a:srgbClr val="23D7E6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44E78-A807-4FC0-8A3A-2D9F3233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19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BFF"/>
                </a:solidFill>
              </a:defRPr>
            </a:pPr>
            <a:r>
              <a:rPr sz="1575" b="1">
                <a:solidFill>
                  <a:srgbClr val="EAFBFF"/>
                </a:solidFill>
              </a:rPr>
              <a:t>Exact-head 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C7D71-A357-4165-B2BC-7B169128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B7C2"/>
                </a:solidFill>
              </a:defRPr>
            </a:pPr>
            <a:r>
              <a:rPr sz="1200" b="0">
                <a:solidFill>
                  <a:srgbClr val="9DB7C2"/>
                </a:solidFill>
              </a:rPr>
              <a:t>runner checks out and tests the immutable head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007DA-1BDB-47DB-8431-04472A0D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EBE3C-E678-4C75-9289-E3A0E547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17984"/>
                </a:solidFill>
              </a:defRPr>
            </a:pPr>
            <a:r>
              <a:rPr sz="2550" b="1">
                <a:solidFill>
                  <a:srgbClr val="617984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10157-CA32-4839-9552-71FDAF98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95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BFF"/>
                </a:solidFill>
              </a:defRPr>
            </a:pPr>
            <a:r>
              <a:rPr sz="1575" b="1">
                <a:solidFill>
                  <a:srgbClr val="EAFBFF"/>
                </a:solidFill>
              </a:rPr>
              <a:t>Hosted 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8B3E4-7E07-49D4-9C03-E486E308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B7C2"/>
                </a:solidFill>
              </a:defRPr>
            </a:pPr>
            <a:r>
              <a:rPr sz="1200" b="0">
                <a:solidFill>
                  <a:srgbClr val="9DB7C2"/>
                </a:solidFill>
              </a:rPr>
              <a:t>image digest + health + readiness + recovery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38FCE-D5AD-439D-A247-D4BA76EC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B5ED9-CD40-4CD3-875D-F3F8B6DD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17984"/>
                </a:solidFill>
              </a:defRPr>
            </a:pPr>
            <a:r>
              <a:rPr sz="2550" b="1">
                <a:solidFill>
                  <a:srgbClr val="617984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AE35E-73CA-433F-B828-E541C2B0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71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BFF"/>
                </a:solidFill>
              </a:defRPr>
            </a:pPr>
            <a:r>
              <a:rPr sz="1575" b="1">
                <a:solidFill>
                  <a:srgbClr val="EAFBFF"/>
                </a:solidFill>
              </a:rPr>
              <a:t>Host integration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D6B42-05FB-4771-BE6F-B15CB992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B7C2"/>
                </a:solidFill>
              </a:defRPr>
            </a:pPr>
            <a:r>
              <a:rPr sz="1200" b="0">
                <a:solidFill>
                  <a:srgbClr val="9DB7C2"/>
                </a:solidFill>
              </a:rPr>
              <a:t>ChatGPT MCP discovery and controlled flows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B5B82-F309-4AB6-A514-05ACB2DA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A6340-29F7-4AD6-9557-D6D227A4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17984"/>
                </a:solidFill>
              </a:defRPr>
            </a:pPr>
            <a:r>
              <a:rPr sz="2550" b="1">
                <a:solidFill>
                  <a:srgbClr val="617984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39FF5-A0CC-43EA-8856-F46A8042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48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BFF"/>
                </a:solidFill>
              </a:defRPr>
            </a:pPr>
            <a:r>
              <a:rPr sz="1575" b="1">
                <a:solidFill>
                  <a:srgbClr val="EAFBFF"/>
                </a:solidFill>
              </a:rPr>
              <a:t>Provider canary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648D9-D802-4ED8-BB6C-ACC24D7E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81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B7C2"/>
                </a:solidFill>
              </a:defRPr>
            </a:pPr>
            <a:r>
              <a:rPr sz="1200" b="0">
                <a:solidFill>
                  <a:srgbClr val="9DB7C2"/>
                </a:solidFill>
              </a:rPr>
              <a:t>identity + terms + budget + permit + receipt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E7B7B-54FC-4B23-983B-82A771E8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C"/>
          </a:solidFill>
          <a:ln xmlns:a="http://schemas.openxmlformats.org/drawingml/2006/main" w="0">
            <a:solidFill>
              <a:srgbClr val="0D2B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94D46-65FD-4A09-879B-456B0316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17984"/>
                </a:solidFill>
              </a:defRPr>
            </a:pPr>
            <a:r>
              <a:rPr sz="2550" b="1">
                <a:solidFill>
                  <a:srgbClr val="617984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38A62-BE9B-4AC8-AA84-131EB0A4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24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BFF"/>
                </a:solidFill>
              </a:defRPr>
            </a:pPr>
            <a:r>
              <a:rPr sz="1575" b="1">
                <a:solidFill>
                  <a:srgbClr val="EAFBFF"/>
                </a:solidFill>
              </a:rPr>
              <a:t>One occupation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2AF40-744B-4097-95F8-BF6E8950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244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B7C2"/>
                </a:solidFill>
              </a:defRPr>
            </a:pPr>
            <a:r>
              <a:rPr sz="1200" b="0">
                <a:solidFill>
                  <a:srgbClr val="9DB7C2"/>
                </a:solidFill>
              </a:rPr>
              <a:t>employer-owned synthetic rubric and acceptance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4B78F-D7B2-44FE-9246-13251B9B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769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3D7E6"/>
                </a:solidFill>
              </a:defRPr>
            </a:pPr>
            <a:r>
              <a:rPr sz="1650" b="1">
                <a:solidFill>
                  <a:srgbClr val="23D7E6"/>
                </a:solidFill>
              </a:rPr>
              <a:t>Build the bridge from source truth to external proof—one exact receipt at a time.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1AAD4C-5AD3-43F5-A787-BC902E6F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AIGC SYSTEM ATLAS · LOCAL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3FA72-65F5-4A44-A8A5-3748EF96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984"/>
                </a:solidFill>
              </a:defRPr>
            </a:pPr>
            <a:r>
              <a:rPr sz="750" b="1">
                <a:solidFill>
                  <a:srgbClr val="617984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92167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2026-08-14T08:40:03.9340000Z</dcterms:created>
  <dcterms:modified xsi:type="dcterms:W3CDTF">2026-08-14T08:40:03.9340000Z</dcterms:modified>
</coreProperties>
</file>